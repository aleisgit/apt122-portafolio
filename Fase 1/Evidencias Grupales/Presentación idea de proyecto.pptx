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5852160" cy="5852160"/>
          </a:xfrm>
          <a:prstGeom prst="ellipse">
            <a:avLst/>
          </a:prstGeom>
          <a:solidFill>
            <a:srgbClr val="2236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3108960" cy="3108960"/>
          </a:xfrm>
          <a:prstGeom prst="ellipse">
            <a:avLst/>
          </a:prstGeom>
          <a:solidFill>
            <a:srgbClr val="1D2F4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170432"/>
            <a:ext cx="82296" cy="1298448"/>
          </a:xfrm>
          <a:prstGeom prst="rect">
            <a:avLst/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Capstone · Portafolio de Título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123444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50976" y="2578608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B9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apoyo a la toma de decisiones (DSS) para el cálculo, análisis y predicción de la siniestralidad de la cartera de seguros intermediada por Buk.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956048"/>
            <a:ext cx="10874959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138928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5376672"/>
            <a:ext cx="199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Definición del Proyecto APT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3360" y="5138928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33360" y="5376672"/>
            <a:ext cx="199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Reginaldo Salinas Bruna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08352" y="5138928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08352" y="5376672"/>
            <a:ext cx="199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83344" y="5138928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83344" y="5376672"/>
            <a:ext cx="199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Mora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Montesino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58335" y="5138928"/>
            <a:ext cx="199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58335" y="5376672"/>
            <a:ext cx="1992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Maipú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proyecto APT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de intermediación, el punto ciego que tiene hoy y cómo queda definido el caso predictivo.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del proyecto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intermedia seguros de aseguradoras asociadas hacia sus empresas clientes y cobra una comisión sobre la prima. La salud de esa cartera la define la siniestralidad, que es la razón entre los siniestros y la prima del período. Hoy Buk no la calcula: la recibe en reportes de la aseguradora, con rezago y de forma agregada. Cuando llega, la renovación ya está encima.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3454298" cy="2651760"/>
          </a:xfrm>
          <a:prstGeom prst="roundRect">
            <a:avLst>
              <a:gd name="adj" fmla="val 206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69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B6834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459736"/>
            <a:ext cx="27776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en riesgo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29422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es recurrente y se pierde si la póliza no se renueva. Cuando la aseguradora reajusta la prima por siniestralidad alta, ya no queda margen para intervenir.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240280"/>
            <a:ext cx="3454298" cy="2651760"/>
          </a:xfrm>
          <a:prstGeom prst="roundRect">
            <a:avLst>
              <a:gd name="adj" fmla="val 206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4730" y="2569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4186" y="2459736"/>
            <a:ext cx="27776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 ciegas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4730" y="2953512"/>
            <a:ext cx="29422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priorizar qué cuentas atender antes de la renovación, ni decidir con qué aseguradora conviene colocar cada cartera.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9029" y="2240280"/>
            <a:ext cx="3454298" cy="2651760"/>
          </a:xfrm>
          <a:prstGeom prst="roundRect">
            <a:avLst>
              <a:gd name="adj" fmla="val 206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5061" y="2569464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AE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8554517" y="2459736"/>
            <a:ext cx="27776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con el partner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5061" y="2953512"/>
            <a:ext cx="294223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negocia condiciones y comisiones sobre los números de la contraparte, sin evidencia propia con la cual contrastarlos.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5184648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FF8E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5184648"/>
            <a:ext cx="54864" cy="658368"/>
          </a:xfrm>
          <a:prstGeom prst="rect">
            <a:avLst/>
          </a:prstGeom>
          <a:solidFill>
            <a:srgbClr val="FB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5184648"/>
            <a:ext cx="1043604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le permite a Buk calcular ese indicador con sus propios datos y anticiparlo antes de la renovación.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etapas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del proyecto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 que hoy no conversan, un proceso de reconciliación en el medio y tres salidas. Cada bloque corresponde a una de las cuatro etapas del proyecto.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3247034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38528"/>
            <a:ext cx="32470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395728"/>
            <a:ext cx="3247034" cy="1728216"/>
          </a:xfrm>
          <a:prstGeom prst="roundRect">
            <a:avLst>
              <a:gd name="adj" fmla="val 264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95728"/>
            <a:ext cx="50292" cy="172821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52374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288127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Pólizas, primas, nóminas de asegurados y comisiones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4270248"/>
            <a:ext cx="3247034" cy="1728216"/>
          </a:xfrm>
          <a:prstGeom prst="roundRect">
            <a:avLst>
              <a:gd name="adj" fmla="val 264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270248"/>
            <a:ext cx="50292" cy="172821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39826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4709160"/>
            <a:ext cx="288127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siniestros, con rezago y agregados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4274" y="4041648"/>
            <a:ext cx="329184" cy="0"/>
          </a:xfrm>
          <a:prstGeom prst="line">
            <a:avLst/>
          </a:prstGeom>
          <a:noFill/>
          <a:ln w="22225">
            <a:solidFill>
              <a:srgbClr val="8A99A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72330" y="1938528"/>
            <a:ext cx="3247034" cy="310896"/>
          </a:xfrm>
          <a:prstGeom prst="roundRect">
            <a:avLst>
              <a:gd name="adj" fmla="val 14706"/>
            </a:avLst>
          </a:prstGeom>
          <a:solidFill>
            <a:srgbClr val="EB6834"/>
          </a:solidFill>
          <a:ln/>
        </p:spPr>
      </p:sp>
      <p:sp>
        <p:nvSpPr>
          <p:cNvPr id="18" name="Text 16"/>
          <p:cNvSpPr/>
          <p:nvPr/>
        </p:nvSpPr>
        <p:spPr>
          <a:xfrm>
            <a:off x="4472330" y="1938528"/>
            <a:ext cx="32470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72330" y="239572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2330" y="2395728"/>
            <a:ext cx="50292" cy="110337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/>
          <p:nvPr/>
        </p:nvSpPr>
        <p:spPr>
          <a:xfrm>
            <a:off x="4655210" y="252374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Seudonimización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5210" y="2834640"/>
            <a:ext cx="2881274" cy="554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 y agregación a póliza y período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72330" y="364540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2330" y="3645408"/>
            <a:ext cx="50292" cy="110337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5" name="Text 23"/>
          <p:cNvSpPr/>
          <p:nvPr/>
        </p:nvSpPr>
        <p:spPr>
          <a:xfrm>
            <a:off x="4655210" y="377342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 y cálculo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55210" y="4084320"/>
            <a:ext cx="288127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 primas con siniestros y validación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55210" y="4383024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28" name="Text 26"/>
          <p:cNvSpPr/>
          <p:nvPr/>
        </p:nvSpPr>
        <p:spPr>
          <a:xfrm>
            <a:off x="4655210" y="438302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(S1 a S9)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72330" y="489508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2330" y="4895088"/>
            <a:ext cx="50292" cy="110337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1" name="Text 29"/>
          <p:cNvSpPr/>
          <p:nvPr/>
        </p:nvSpPr>
        <p:spPr>
          <a:xfrm>
            <a:off x="4655210" y="502310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55210" y="5334000"/>
            <a:ext cx="2881274" cy="554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del indicador, predicciones y accesos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38237" y="4041648"/>
            <a:ext cx="329184" cy="0"/>
          </a:xfrm>
          <a:prstGeom prst="line">
            <a:avLst/>
          </a:prstGeom>
          <a:noFill/>
          <a:ln w="22225">
            <a:solidFill>
              <a:srgbClr val="8A99A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86293" y="1938528"/>
            <a:ext cx="3247034" cy="310896"/>
          </a:xfrm>
          <a:prstGeom prst="roundRect">
            <a:avLst>
              <a:gd name="adj" fmla="val 14706"/>
            </a:avLst>
          </a:prstGeom>
          <a:solidFill>
            <a:srgbClr val="1BAF7A"/>
          </a:solidFill>
          <a:ln/>
        </p:spPr>
      </p:sp>
      <p:sp>
        <p:nvSpPr>
          <p:cNvPr id="35" name="Text 33"/>
          <p:cNvSpPr/>
          <p:nvPr/>
        </p:nvSpPr>
        <p:spPr>
          <a:xfrm>
            <a:off x="8286293" y="1938528"/>
            <a:ext cx="32470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86293" y="239572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6293" y="2395728"/>
            <a:ext cx="50292" cy="11033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8" name="Text 36"/>
          <p:cNvSpPr/>
          <p:nvPr/>
        </p:nvSpPr>
        <p:spPr>
          <a:xfrm>
            <a:off x="8469173" y="252374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descriptivo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69173" y="2834640"/>
            <a:ext cx="288127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histórica de la cartera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69173" y="3133344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41" name="Text 39"/>
          <p:cNvSpPr/>
          <p:nvPr/>
        </p:nvSpPr>
        <p:spPr>
          <a:xfrm>
            <a:off x="8469173" y="313334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(S9 a S11)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86293" y="364540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6293" y="3645408"/>
            <a:ext cx="50292" cy="11033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44" name="Text 42"/>
          <p:cNvSpPr/>
          <p:nvPr/>
        </p:nvSpPr>
        <p:spPr>
          <a:xfrm>
            <a:off x="8469173" y="377342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69173" y="4084320"/>
            <a:ext cx="288127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superar el umbral técnico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69173" y="4383024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47" name="Text 45"/>
          <p:cNvSpPr/>
          <p:nvPr/>
        </p:nvSpPr>
        <p:spPr>
          <a:xfrm>
            <a:off x="8469173" y="438302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(S9 a S14)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86293" y="4895088"/>
            <a:ext cx="3247034" cy="1103376"/>
          </a:xfrm>
          <a:prstGeom prst="roundRect">
            <a:avLst>
              <a:gd name="adj" fmla="val 4144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86293" y="4895088"/>
            <a:ext cx="50292" cy="11033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0" name="Text 48"/>
          <p:cNvSpPr/>
          <p:nvPr/>
        </p:nvSpPr>
        <p:spPr>
          <a:xfrm>
            <a:off x="8469173" y="5023104"/>
            <a:ext cx="2881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decisión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69173" y="5334000"/>
            <a:ext cx="288127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priorizadas y comisión en riesgo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69173" y="5632704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53" name="Text 51"/>
          <p:cNvSpPr/>
          <p:nvPr/>
        </p:nvSpPr>
        <p:spPr>
          <a:xfrm>
            <a:off x="8469173" y="563270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(S14 a S16)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del caso predictivo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del proyecto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3 se acota a un único caso, definido antes de modelar.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386584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ANÁLISIS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31136" y="2386584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póliza colectiva de una empresa cliente, por período. Nunca el asegurado individual.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916936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386584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97216" y="2386584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Binaria: superará el umbral técnico de siniestralidad el próximo período.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4448" y="2916936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16936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CORTE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31136" y="2916936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 antes de la renovación, solo con datos disponibles a esa fecha.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447288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2916936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 NEGOCIO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97216" y="2916936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de la cartera y comisión anual en riesgo.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3447288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4728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31136" y="3447288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«la que superó el umbral lo volverá a superar».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977640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344728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97216" y="3447288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con k igual a las cuentas renegociables por período.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977640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776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ÉXITO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31136" y="3977640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la persistencia en precision@k por un margen fijado tras el perfilado.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4507992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4448" y="397764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97216" y="3977640"/>
            <a:ext cx="3636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(out-of-time), no aleatoria.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24448" y="4507992"/>
            <a:ext cx="520888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800600"/>
            <a:ext cx="10874959" cy="896112"/>
          </a:xfrm>
          <a:prstGeom prst="roundRect">
            <a:avLst>
              <a:gd name="adj" fmla="val 5102"/>
            </a:avLst>
          </a:prstGeom>
          <a:solidFill>
            <a:srgbClr val="FFF8E2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4800600"/>
            <a:ext cx="54864" cy="896112"/>
          </a:xfrm>
          <a:prstGeom prst="rect">
            <a:avLst/>
          </a:prstGeom>
          <a:solidFill>
            <a:srgbClr val="FBC842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" y="4800600"/>
            <a:ext cx="10436047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se decide después del perfilado. Una cartera colectiva puede tener cientos de pólizas y no millones: si el cruce de pólizas por períodos no alcanza casos suficientes sobre el umbral, la Etapa 3 se resuelve con reglas derivadas del análisis exploratorio y se documenta la decisión.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de corte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Descripción del proyecto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se hace 90 días antes de la renovación. Todo lo que ocurre después de esa fecha queda fuera del modelo, aunque esté en la base de datos.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985516"/>
            <a:ext cx="6851224" cy="420624"/>
          </a:xfrm>
          <a:prstGeom prst="roundRect">
            <a:avLst>
              <a:gd name="adj" fmla="val 8696"/>
            </a:avLst>
          </a:prstGeom>
          <a:solidFill>
            <a:srgbClr val="2A78D6"/>
          </a:solidFill>
          <a:ln/>
        </p:spPr>
      </p:sp>
      <p:sp>
        <p:nvSpPr>
          <p:cNvPr id="7" name="Shape 5"/>
          <p:cNvSpPr/>
          <p:nvPr/>
        </p:nvSpPr>
        <p:spPr>
          <a:xfrm>
            <a:off x="7509592" y="2985516"/>
            <a:ext cx="4023735" cy="420624"/>
          </a:xfrm>
          <a:prstGeom prst="roundRect">
            <a:avLst>
              <a:gd name="adj" fmla="val 8696"/>
            </a:avLst>
          </a:prstGeom>
          <a:solidFill>
            <a:srgbClr val="EDEFF2"/>
          </a:solidFill>
          <a:ln w="12700">
            <a:solidFill>
              <a:srgbClr val="D4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985516"/>
            <a:ext cx="6851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 y utilizables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09592" y="2985516"/>
            <a:ext cx="402373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 del modelo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09592" y="2674620"/>
            <a:ext cx="0" cy="1042416"/>
          </a:xfrm>
          <a:prstGeom prst="line">
            <a:avLst/>
          </a:prstGeom>
          <a:noFill/>
          <a:ln w="25400">
            <a:solidFill>
              <a:srgbClr val="AE0F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68344" y="2382012"/>
            <a:ext cx="1682496" cy="292608"/>
          </a:xfrm>
          <a:prstGeom prst="roundRect">
            <a:avLst>
              <a:gd name="adj" fmla="val 15625"/>
            </a:avLst>
          </a:prstGeom>
          <a:solidFill>
            <a:srgbClr val="AE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6668344" y="2382012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90 días antes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4975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período observado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07247" y="34975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la póliza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973068"/>
            <a:ext cx="5208880" cy="1600200"/>
          </a:xfrm>
          <a:prstGeom prst="roundRect">
            <a:avLst>
              <a:gd name="adj" fmla="val 2857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973068"/>
            <a:ext cx="50292" cy="1600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064508"/>
            <a:ext cx="484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que sí entran al modelo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375404"/>
            <a:ext cx="48431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de períodos anteriores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y composición de la nómina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Ramo, plan y aseguradora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vigente y comisión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 la póliza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973068"/>
            <a:ext cx="5208880" cy="1600200"/>
          </a:xfrm>
          <a:prstGeom prst="roundRect">
            <a:avLst>
              <a:gd name="adj" fmla="val 2857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3973068"/>
            <a:ext cx="50292" cy="1600200"/>
          </a:xfrm>
          <a:prstGeom prst="rect">
            <a:avLst/>
          </a:prstGeom>
          <a:solidFill>
            <a:srgbClr val="AE0F0F"/>
          </a:solidFill>
          <a:ln/>
        </p:spPr>
      </p:sp>
      <p:sp>
        <p:nvSpPr>
          <p:cNvPr id="21" name="Text 19"/>
          <p:cNvSpPr/>
          <p:nvPr/>
        </p:nvSpPr>
        <p:spPr>
          <a:xfrm>
            <a:off x="6525616" y="4064508"/>
            <a:ext cx="484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prohibidas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07328" y="4375404"/>
            <a:ext cx="48431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del período que se predice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ya reajustada en la renovación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de la renovación</a:t>
            </a:r>
            <a:endParaRPr lang="en-US" sz="1050" dirty="0"/>
          </a:p>
          <a:p>
            <a:pPr marL="139700" indent="-1397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campo posterior al corte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perfil de egreso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competencias del plan de estudio que el proyecto pone en práctica.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Perfil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Perfil de egreso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las áreas: los tableros (aplicación web), la reconciliación de primas y siniestros (base de datos), el modelo de la Etapa 3 (inteligencia artificial), el cálculo y la visualización (análisis de datos) y la extracción desde ambas fuentes (integración con API).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17627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15568" y="2148840"/>
            <a:ext cx="4705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 con técnicas que sistematicen su desarrollo y mantenimiento. Son dos aplicaciones web y el pipeline que las alimenta, sobre un mismo repositorio.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217627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0" name="Text 8"/>
          <p:cNvSpPr/>
          <p:nvPr/>
        </p:nvSpPr>
        <p:spPr>
          <a:xfrm>
            <a:off x="6370168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27368" y="2148840"/>
            <a:ext cx="4705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grandes volúmenes de datos para obtener información y apoyar la toma de decisiones. Los datos crudos no responden nada por sí solos, hay que convertirlos en indicador y en lista priorizada.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43814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3410712"/>
            <a:ext cx="4705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escalables para soportar los requerimientos de la organización. Reconciliar dos fuentes de distinto formato y periodicidad a nivel de póliza y período.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70168" y="343814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27368" y="3410712"/>
            <a:ext cx="4705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 y ofrecer alternativas para la toma de decisiones. Cuatro etapas, tres integrantes y 18 semanas. El tablero entrega las pólizas priorizadas y la comisión en juego.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7000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700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5568" y="4672584"/>
            <a:ext cx="4705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vulnerabilidades para asegurar que el software cumpla las normas de seguridad. Los siniestros de salud son datos sensibles: agregación por póliza, seudonimización y acceso por rol.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del proyecto en la asignatura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proyecto cabe en un semestre y qué puede salir mal.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Factibilidad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condiciones hacen que el proyecto quepa en un semestre sin recortar su valor.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487168"/>
            <a:ext cx="2526716" cy="3108960"/>
          </a:xfrm>
          <a:prstGeom prst="roundRect">
            <a:avLst>
              <a:gd name="adj" fmla="val 217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1635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706624"/>
            <a:ext cx="18500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encadenado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0146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 con un entregable cada una y un solo caso predictivo. Calcular y visualizar la siniestralidad ya resuelve el punto ciego actual.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1116" y="2487168"/>
            <a:ext cx="2526716" cy="3108960"/>
          </a:xfrm>
          <a:prstGeom prst="roundRect">
            <a:avLst>
              <a:gd name="adj" fmla="val 217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7148" y="281635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1BA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916604" y="2706624"/>
            <a:ext cx="18500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97148" y="3200400"/>
            <a:ext cx="20146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fases, con las etapas dimensionadas dejando holgura en las semanas de entrega.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23864" y="2487168"/>
            <a:ext cx="2526716" cy="3108960"/>
          </a:xfrm>
          <a:prstGeom prst="roundRect">
            <a:avLst>
              <a:gd name="adj" fmla="val 217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9896" y="281635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B6834"/>
          </a:solidFill>
          <a:ln/>
        </p:spPr>
      </p:sp>
      <p:sp>
        <p:nvSpPr>
          <p:cNvPr id="16" name="Text 14"/>
          <p:cNvSpPr/>
          <p:nvPr/>
        </p:nvSpPr>
        <p:spPr>
          <a:xfrm>
            <a:off x="6699352" y="2706624"/>
            <a:ext cx="18500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costo cero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9896" y="3200400"/>
            <a:ext cx="20146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PostgreSQL, Streamlit y Git. Sin licencias ni hardware especializado.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611" y="2487168"/>
            <a:ext cx="2526716" cy="3108960"/>
          </a:xfrm>
          <a:prstGeom prst="roundRect">
            <a:avLst>
              <a:gd name="adj" fmla="val 217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2643" y="2816352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702785"/>
          </a:solidFill>
          <a:ln/>
        </p:spPr>
      </p:sp>
      <p:sp>
        <p:nvSpPr>
          <p:cNvPr id="20" name="Text 18"/>
          <p:cNvSpPr/>
          <p:nvPr/>
        </p:nvSpPr>
        <p:spPr>
          <a:xfrm>
            <a:off x="9482099" y="2706624"/>
            <a:ext cx="18500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62643" y="3200400"/>
            <a:ext cx="20146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autorizado a los datos de la cartera intermediada, que es la condición habilitante del proyecto.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Factibilidad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riesgos que efectivamente pueden detener el proyecto, con su plan alternativo.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487168"/>
          <a:ext cx="10874959" cy="914400"/>
        </p:xfrm>
        <a:graphic>
          <a:graphicData uri="http://schemas.openxmlformats.org/drawingml/2006/table">
            <a:tbl>
              <a:tblPr/>
              <a:tblGrid>
                <a:gridCol w="4349984"/>
                <a:gridCol w="6524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9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9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reportes de siniestros llegan agregados o sin detalle por póliza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el riesgo principal: sin siniestros por póliza y período no hay variable objetivo. El nivel de detalle mínimo se acuerda en la semana 1. Alternativa: reducir la granularidad de la unidad de análisis, o generar datos sintéticos desde las distribuciones reales conservando la metodología.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volumen de pólizas por períodos es insuficiente para entrenar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perfilado de las semanas 3 y 4 lo determina antes de comprometer la técnica. Si no alcanza, la Etapa 3 se resuelve con reglas derivadas del análisis exploratorio y se documenta la decisión.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cálculo propio no cuadra con el reporte de la aseguradora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un resultado esperable y forma parte del trabajo. Las diferencias se cuantifican y se explican: criterio de devengo, siniestros en curso de liquidación y ajustes retroactivos.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de información y tratamiento de datos sensibles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variables prohibidas definida antes de construir el dataset, con revisión cruzada por un integrante distinto de quien las construyó. Agregación a nivel de póliza y seudonimización en el momento de la extracción.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127000" marB="152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objetivo general medible y ocho específicos, cada uno asociado a una evidencia.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Objetivos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específico está asociado a una evidencia concreta del punto 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10874959" cy="1133856"/>
          </a:xfrm>
          <a:prstGeom prst="roundRect">
            <a:avLst>
              <a:gd name="adj" fmla="val 4032"/>
            </a:avLst>
          </a:prstGeom>
          <a:solidFill>
            <a:srgbClr val="FFF8E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883664"/>
            <a:ext cx="54864" cy="1133856"/>
          </a:xfrm>
          <a:prstGeom prst="rect">
            <a:avLst/>
          </a:prstGeom>
          <a:solidFill>
            <a:srgbClr val="FBC84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965960"/>
            <a:ext cx="104360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194560"/>
            <a:ext cx="10436047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que calcule la siniestralidad de la cartera intermediada por Buk de forma trazable y validada, la exponga en tableros de gestión y anticipe qué pólizas superarán el umbral técnico, superando la regla actual y entregando información accionable al equipo de seguros antes de la renovación.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19125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191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3163824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fórmula de la siniestralidad, el KPI, la variable objetivo, el umbral, el corte, la métrica y la línea base.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0168" y="319125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3191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27368" y="3163824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pólizas, primas y comisiones de Buk con los siniestros de la aseguradora en un dataset agregado y seudonimizado.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95020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15568" y="3922776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cálculo propio contra los reportes oficiales, documentando las diferencias y sus causas.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70168" y="395020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370168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27368" y="3922776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tablero descriptivo de la siniestralidad histórica por póliza, cliente, aseguradora y ramo.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70916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5568" y="4681728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exploratoriamente los datos e identificar las variables asociadas a la siniestralidad alta y sus sesgos.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70168" y="470916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27368" y="4681728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al menos dos modelos interpretables y compararlos contra la línea base de persistencia.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546811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5468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15568" y="5440680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tablero de decisión con pólizas priorizadas, factores explicativos y comisión en riesgo.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70168" y="546811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72740"/>
          </a:solidFill>
          <a:ln/>
        </p:spPr>
      </p:sp>
      <p:sp>
        <p:nvSpPr>
          <p:cNvPr id="32" name="Text 30"/>
          <p:cNvSpPr/>
          <p:nvPr/>
        </p:nvSpPr>
        <p:spPr>
          <a:xfrm>
            <a:off x="6370168" y="5468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27368" y="5440680"/>
            <a:ext cx="47059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utilidad del sistema con un usuario del equipo de seguros mediante una prueba guiada.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en ciclos de dos semanas, aplicado sobre las cuatro etapas del proyecto.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Metodología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CRISP-DM porque obliga a partir por la comprensión del negocio y a volver a ella en la etapa de evaluación, de modo que el resultado se juzgue por la decisión que permite tomar y no solo por sus métricas.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negocio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intermediación, estructura de comisiones y proceso de renovación.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 S3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8293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44597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2644597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44597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los datos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44597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Perfilado de ambas fuentes y análisis exploratorio. Aquí se decide la técnica.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44597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 S10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38218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4522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4484522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4522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4522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Seudonimización, agregación, reconciliación y variables congeladas al corte.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4522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a S11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8144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4448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4448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24448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persistencia y dos modelos interpretables.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4448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a S12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18069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64373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32" name="Text 30"/>
          <p:cNvSpPr/>
          <p:nvPr/>
        </p:nvSpPr>
        <p:spPr>
          <a:xfrm>
            <a:off x="8164373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64373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64373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Out-of-time, por subgrupos, y vuelta a la pregunta de negocio.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64373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a S14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57994" y="2624328"/>
            <a:ext cx="1675333" cy="2834640"/>
          </a:xfrm>
          <a:prstGeom prst="roundRect">
            <a:avLst>
              <a:gd name="adj" fmla="val 3275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04298" y="278892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38" name="Text 36"/>
          <p:cNvSpPr/>
          <p:nvPr/>
        </p:nvSpPr>
        <p:spPr>
          <a:xfrm>
            <a:off x="10004298" y="278892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04298" y="3136392"/>
            <a:ext cx="138272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004298" y="3758184"/>
            <a:ext cx="13827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tableros, control de acceso, validación con usuario y documentación.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04298" y="5056632"/>
            <a:ext cx="1382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a S18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responsabilidades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Metodología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permite diferenciar la evaluación por integrante y asegura que la revisión anti-fuga la haga alguien distinto de quien construyó las variables.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647188"/>
            <a:ext cx="342991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647188"/>
            <a:ext cx="3429914" cy="859536"/>
          </a:xfrm>
          <a:prstGeom prst="rect">
            <a:avLst/>
          </a:prstGeom>
          <a:solidFill>
            <a:srgbClr val="17274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784348"/>
            <a:ext cx="29727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Mora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122676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técnico: datos y modelado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3689604"/>
            <a:ext cx="30275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Perfilado de las fuentes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reconciliación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al momento de corte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y modelos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tableros y explicabilidad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0890" y="2647188"/>
            <a:ext cx="342991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0890" y="2647188"/>
            <a:ext cx="3429914" cy="859536"/>
          </a:xfrm>
          <a:prstGeom prst="rect">
            <a:avLst/>
          </a:prstGeom>
          <a:solidFill>
            <a:srgbClr val="17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8634" y="2784348"/>
            <a:ext cx="29727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Montesino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8634" y="3122676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negocio y evaluación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0346" y="3689604"/>
            <a:ext cx="30275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del modelo de negocio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indicador y KPI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contra reportes oficiales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y sesgos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el usuario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3413" y="2647188"/>
            <a:ext cx="342991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3413" y="2647188"/>
            <a:ext cx="3429914" cy="859536"/>
          </a:xfrm>
          <a:prstGeom prst="rect">
            <a:avLst/>
          </a:prstGeom>
          <a:solidFill>
            <a:srgbClr val="17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8341157" y="2784348"/>
            <a:ext cx="297271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Pinto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41157" y="3122676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seguridad y calidad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2869" y="3689604"/>
            <a:ext cx="30275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 uso de datos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Seudonimización y agregación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anti-fuga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experimentos</a:t>
            </a:r>
            <a:endParaRPr lang="en-US" sz="1200" dirty="0"/>
          </a:p>
          <a:p>
            <a:pPr marL="139700" indent="-139700">
              <a:lnSpc>
                <a:spcPct val="134000"/>
              </a:lnSpc>
              <a:buSzPct val="100000"/>
              <a:buChar char="•"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y pruebas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preliminar de los tableros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Metodología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de las dos interfaces que se entregan. No son capturas: no contienen datos reales ni resultados del modelo.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322576"/>
            <a:ext cx="5208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C9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22576"/>
            <a:ext cx="5208880" cy="384048"/>
          </a:xfrm>
          <a:prstGeom prst="rect">
            <a:avLst/>
          </a:prstGeom>
          <a:solidFill>
            <a:srgbClr val="1727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2257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descriptivo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07712" y="2414016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EB6834"/>
          </a:solidFill>
          <a:ln/>
        </p:spPr>
      </p:sp>
      <p:sp>
        <p:nvSpPr>
          <p:cNvPr id="10" name="Text 8"/>
          <p:cNvSpPr/>
          <p:nvPr/>
        </p:nvSpPr>
        <p:spPr>
          <a:xfrm>
            <a:off x="5007712" y="24140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cartera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96112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2480005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3157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sobre umbral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53157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4137050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0202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anual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10202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547872"/>
            <a:ext cx="4879696" cy="1463040"/>
          </a:xfrm>
          <a:prstGeom prst="roundRect">
            <a:avLst>
              <a:gd name="adj" fmla="val 2500"/>
            </a:avLst>
          </a:prstGeom>
          <a:solidFill>
            <a:srgbClr val="FAFBFC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4369003"/>
            <a:ext cx="346995" cy="422453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934" y="4127602"/>
            <a:ext cx="346995" cy="663854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3" name="Shape 21"/>
          <p:cNvSpPr/>
          <p:nvPr/>
        </p:nvSpPr>
        <p:spPr>
          <a:xfrm>
            <a:off x="2088604" y="4238244"/>
            <a:ext cx="346995" cy="553212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8274" y="4006901"/>
            <a:ext cx="346995" cy="784555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7944" y="4187952"/>
            <a:ext cx="346995" cy="603504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6" name="Shape 24"/>
          <p:cNvSpPr/>
          <p:nvPr/>
        </p:nvSpPr>
        <p:spPr>
          <a:xfrm>
            <a:off x="3767614" y="3906317"/>
            <a:ext cx="346995" cy="885139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7284" y="4087368"/>
            <a:ext cx="346995" cy="704088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86954" y="3835908"/>
            <a:ext cx="346995" cy="955548"/>
          </a:xfrm>
          <a:prstGeom prst="roundRect">
            <a:avLst>
              <a:gd name="adj" fmla="val 5270"/>
            </a:avLst>
          </a:prstGeom>
          <a:solidFill>
            <a:srgbClr val="C9D2DC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688" y="4809744"/>
            <a:ext cx="4660240" cy="0"/>
          </a:xfrm>
          <a:prstGeom prst="line">
            <a:avLst/>
          </a:prstGeom>
          <a:noFill/>
          <a:ln w="12700">
            <a:solidFill>
              <a:srgbClr val="D4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065776"/>
            <a:ext cx="487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aseguradora, ramo y período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4448" y="2322576"/>
            <a:ext cx="5208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C9D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8" y="2322576"/>
            <a:ext cx="5208880" cy="384048"/>
          </a:xfrm>
          <a:prstGeom prst="rect">
            <a:avLst/>
          </a:prstGeom>
          <a:solidFill>
            <a:srgbClr val="172740"/>
          </a:solidFill>
          <a:ln/>
        </p:spPr>
      </p:sp>
      <p:sp>
        <p:nvSpPr>
          <p:cNvPr id="33" name="Text 31"/>
          <p:cNvSpPr/>
          <p:nvPr/>
        </p:nvSpPr>
        <p:spPr>
          <a:xfrm>
            <a:off x="6489040" y="232257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decisión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673791" y="2414016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1BAF7A"/>
          </a:solidFill>
          <a:ln/>
        </p:spPr>
      </p:sp>
      <p:sp>
        <p:nvSpPr>
          <p:cNvPr id="35" name="Text 33"/>
          <p:cNvSpPr/>
          <p:nvPr/>
        </p:nvSpPr>
        <p:spPr>
          <a:xfrm>
            <a:off x="10673791" y="24140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89040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2192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en riesgo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62192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39" name="Shape 37"/>
          <p:cNvSpPr/>
          <p:nvPr/>
        </p:nvSpPr>
        <p:spPr>
          <a:xfrm>
            <a:off x="8146085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9237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en riesgo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19237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42" name="Shape 40"/>
          <p:cNvSpPr/>
          <p:nvPr/>
        </p:nvSpPr>
        <p:spPr>
          <a:xfrm>
            <a:off x="9803130" y="2852928"/>
            <a:ext cx="1565605" cy="566928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6282" y="2889504"/>
            <a:ext cx="141930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a renovación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76282" y="3200400"/>
            <a:ext cx="782803" cy="128016"/>
          </a:xfrm>
          <a:prstGeom prst="roundRect">
            <a:avLst>
              <a:gd name="adj" fmla="val 21429"/>
            </a:avLst>
          </a:prstGeom>
          <a:solidFill>
            <a:srgbClr val="C9D2D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89040" y="3547872"/>
            <a:ext cx="4879696" cy="1463040"/>
          </a:xfrm>
          <a:prstGeom prst="roundRect">
            <a:avLst>
              <a:gd name="adj" fmla="val 2500"/>
            </a:avLst>
          </a:prstGeom>
          <a:solidFill>
            <a:srgbClr val="FAFBFC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35344" y="3694176"/>
            <a:ext cx="3837280" cy="118872"/>
          </a:xfrm>
          <a:prstGeom prst="roundRect">
            <a:avLst>
              <a:gd name="adj" fmla="val 23077"/>
            </a:avLst>
          </a:prstGeom>
          <a:solidFill>
            <a:srgbClr val="C9D2DC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73791" y="3685032"/>
            <a:ext cx="548640" cy="137160"/>
          </a:xfrm>
          <a:prstGeom prst="roundRect">
            <a:avLst>
              <a:gd name="adj" fmla="val 20000"/>
            </a:avLst>
          </a:prstGeom>
          <a:solidFill>
            <a:srgbClr val="AE0F0F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5344" y="3931920"/>
            <a:ext cx="3607043" cy="118872"/>
          </a:xfrm>
          <a:prstGeom prst="roundRect">
            <a:avLst>
              <a:gd name="adj" fmla="val 23077"/>
            </a:avLst>
          </a:prstGeom>
          <a:solidFill>
            <a:srgbClr val="C9D2DC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73791" y="3922776"/>
            <a:ext cx="548640" cy="137160"/>
          </a:xfrm>
          <a:prstGeom prst="roundRect">
            <a:avLst>
              <a:gd name="adj" fmla="val 20000"/>
            </a:avLst>
          </a:prstGeom>
          <a:solidFill>
            <a:srgbClr val="AE0F0F"/>
          </a:solidFill>
          <a:ln/>
        </p:spPr>
      </p:sp>
      <p:sp>
        <p:nvSpPr>
          <p:cNvPr id="50" name="Shape 48"/>
          <p:cNvSpPr/>
          <p:nvPr/>
        </p:nvSpPr>
        <p:spPr>
          <a:xfrm>
            <a:off x="6635344" y="4169664"/>
            <a:ext cx="3376806" cy="118872"/>
          </a:xfrm>
          <a:prstGeom prst="roundRect">
            <a:avLst>
              <a:gd name="adj" fmla="val 23077"/>
            </a:avLst>
          </a:prstGeom>
          <a:solidFill>
            <a:srgbClr val="C9D2DC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73791" y="4160520"/>
            <a:ext cx="548640" cy="137160"/>
          </a:xfrm>
          <a:prstGeom prst="roundRect">
            <a:avLst>
              <a:gd name="adj" fmla="val 20000"/>
            </a:avLst>
          </a:prstGeom>
          <a:solidFill>
            <a:srgbClr val="EB6834"/>
          </a:solidFill>
          <a:ln/>
        </p:spPr>
      </p:sp>
      <p:sp>
        <p:nvSpPr>
          <p:cNvPr id="52" name="Shape 50"/>
          <p:cNvSpPr/>
          <p:nvPr/>
        </p:nvSpPr>
        <p:spPr>
          <a:xfrm>
            <a:off x="6635344" y="4407408"/>
            <a:ext cx="3146569" cy="118872"/>
          </a:xfrm>
          <a:prstGeom prst="roundRect">
            <a:avLst>
              <a:gd name="adj" fmla="val 23077"/>
            </a:avLst>
          </a:prstGeom>
          <a:solidFill>
            <a:srgbClr val="C9D2D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673791" y="4398264"/>
            <a:ext cx="548640" cy="137160"/>
          </a:xfrm>
          <a:prstGeom prst="roundRect">
            <a:avLst>
              <a:gd name="adj" fmla="val 20000"/>
            </a:avLst>
          </a:prstGeom>
          <a:solidFill>
            <a:srgbClr val="EB6834"/>
          </a:solidFill>
          <a:ln/>
        </p:spPr>
      </p:sp>
      <p:sp>
        <p:nvSpPr>
          <p:cNvPr id="54" name="Shape 52"/>
          <p:cNvSpPr/>
          <p:nvPr/>
        </p:nvSpPr>
        <p:spPr>
          <a:xfrm>
            <a:off x="6635344" y="4645152"/>
            <a:ext cx="2916332" cy="118872"/>
          </a:xfrm>
          <a:prstGeom prst="roundRect">
            <a:avLst>
              <a:gd name="adj" fmla="val 23077"/>
            </a:avLst>
          </a:prstGeom>
          <a:solidFill>
            <a:srgbClr val="C9D2D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73791" y="4636008"/>
            <a:ext cx="548640" cy="137160"/>
          </a:xfrm>
          <a:prstGeom prst="roundRect">
            <a:avLst>
              <a:gd name="adj" fmla="val 20000"/>
            </a:avLst>
          </a:prstGeom>
          <a:solidFill>
            <a:srgbClr val="1BAF7A"/>
          </a:solidFill>
          <a:ln/>
        </p:spPr>
      </p:sp>
      <p:sp>
        <p:nvSpPr>
          <p:cNvPr id="56" name="Text 54"/>
          <p:cNvSpPr/>
          <p:nvPr/>
        </p:nvSpPr>
        <p:spPr>
          <a:xfrm>
            <a:off x="6489040" y="5065776"/>
            <a:ext cx="487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abre los factores que explican la predicción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" y="5541264"/>
            <a:ext cx="108749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de diseño. No contienen datos reales ni resultados del modelo.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 actividades distribuidas en las dieciocho semanas del semestre.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Plan de trabajo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cambia de color al cruzar el límite entre fases. La actividad crítica es A2: si los reportes de siniestros no llegan con el detalle necesario, no hay variable objetivo que predecir.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4466" y="1883664"/>
            <a:ext cx="2736190" cy="219456"/>
          </a:xfrm>
          <a:prstGeom prst="roundRect">
            <a:avLst>
              <a:gd name="adj" fmla="val 16667"/>
            </a:avLst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3264408" y="1883664"/>
            <a:ext cx="27563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0773" y="1883664"/>
            <a:ext cx="2736190" cy="219456"/>
          </a:xfrm>
          <a:prstGeom prst="roundRect">
            <a:avLst>
              <a:gd name="adj" fmla="val 16667"/>
            </a:avLst>
          </a:prstGeom>
          <a:solidFill>
            <a:srgbClr val="EB6834"/>
          </a:solidFill>
          <a:ln/>
        </p:spPr>
      </p:sp>
      <p:sp>
        <p:nvSpPr>
          <p:cNvPr id="9" name="Text 7"/>
          <p:cNvSpPr/>
          <p:nvPr/>
        </p:nvSpPr>
        <p:spPr>
          <a:xfrm>
            <a:off x="6020714" y="1883664"/>
            <a:ext cx="27563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87079" y="1883664"/>
            <a:ext cx="2736190" cy="219456"/>
          </a:xfrm>
          <a:prstGeom prst="roundRect">
            <a:avLst>
              <a:gd name="adj" fmla="val 16667"/>
            </a:avLst>
          </a:prstGeom>
          <a:solidFill>
            <a:srgbClr val="1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8777021" y="1883664"/>
            <a:ext cx="27563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194560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A0. Gestión y seguimiento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74466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3851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93235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2620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112004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1388" y="222199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0773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0157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542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8926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8310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4" name="Shape 22"/>
          <p:cNvSpPr/>
          <p:nvPr/>
        </p:nvSpPr>
        <p:spPr>
          <a:xfrm>
            <a:off x="8327695" y="222199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5" name="Shape 23"/>
          <p:cNvSpPr/>
          <p:nvPr/>
        </p:nvSpPr>
        <p:spPr>
          <a:xfrm>
            <a:off x="8787079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46464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7" name="Shape 25"/>
          <p:cNvSpPr/>
          <p:nvPr/>
        </p:nvSpPr>
        <p:spPr>
          <a:xfrm>
            <a:off x="9705848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5232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24617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84001" y="222199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1" name="Text 29"/>
          <p:cNvSpPr/>
          <p:nvPr/>
        </p:nvSpPr>
        <p:spPr>
          <a:xfrm>
            <a:off x="11569903" y="2194560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 S18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" y="2431733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Levantamiento y definición del indicador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74466" y="2459164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3733851" y="2459164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4193235" y="2459164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4652620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112004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8" name="Shape 36"/>
          <p:cNvSpPr/>
          <p:nvPr/>
        </p:nvSpPr>
        <p:spPr>
          <a:xfrm>
            <a:off x="5571388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0773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490157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542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2" name="Shape 40"/>
          <p:cNvSpPr/>
          <p:nvPr/>
        </p:nvSpPr>
        <p:spPr>
          <a:xfrm>
            <a:off x="7408926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8310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4" name="Shape 42"/>
          <p:cNvSpPr/>
          <p:nvPr/>
        </p:nvSpPr>
        <p:spPr>
          <a:xfrm>
            <a:off x="8327695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5" name="Shape 43"/>
          <p:cNvSpPr/>
          <p:nvPr/>
        </p:nvSpPr>
        <p:spPr>
          <a:xfrm>
            <a:off x="8787079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6" name="Shape 44"/>
          <p:cNvSpPr/>
          <p:nvPr/>
        </p:nvSpPr>
        <p:spPr>
          <a:xfrm>
            <a:off x="9246464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7" name="Shape 45"/>
          <p:cNvSpPr/>
          <p:nvPr/>
        </p:nvSpPr>
        <p:spPr>
          <a:xfrm>
            <a:off x="9705848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65232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24617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0" name="Shape 48"/>
          <p:cNvSpPr/>
          <p:nvPr/>
        </p:nvSpPr>
        <p:spPr>
          <a:xfrm>
            <a:off x="11084001" y="245916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1" name="Text 49"/>
          <p:cNvSpPr/>
          <p:nvPr/>
        </p:nvSpPr>
        <p:spPr>
          <a:xfrm>
            <a:off x="11569903" y="2431733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 S3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8368" y="2668905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Acceso a datos de Buk y aseguradora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74466" y="2696337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4" name="Shape 52"/>
          <p:cNvSpPr/>
          <p:nvPr/>
        </p:nvSpPr>
        <p:spPr>
          <a:xfrm>
            <a:off x="3733851" y="2696337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5" name="Shape 53"/>
          <p:cNvSpPr/>
          <p:nvPr/>
        </p:nvSpPr>
        <p:spPr>
          <a:xfrm>
            <a:off x="4193235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6" name="Shape 54"/>
          <p:cNvSpPr/>
          <p:nvPr/>
        </p:nvSpPr>
        <p:spPr>
          <a:xfrm>
            <a:off x="4652620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7" name="Shape 55"/>
          <p:cNvSpPr/>
          <p:nvPr/>
        </p:nvSpPr>
        <p:spPr>
          <a:xfrm>
            <a:off x="5112004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8" name="Shape 56"/>
          <p:cNvSpPr/>
          <p:nvPr/>
        </p:nvSpPr>
        <p:spPr>
          <a:xfrm>
            <a:off x="5571388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59" name="Shape 57"/>
          <p:cNvSpPr/>
          <p:nvPr/>
        </p:nvSpPr>
        <p:spPr>
          <a:xfrm>
            <a:off x="6030773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0" name="Shape 58"/>
          <p:cNvSpPr/>
          <p:nvPr/>
        </p:nvSpPr>
        <p:spPr>
          <a:xfrm>
            <a:off x="6490157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1" name="Shape 59"/>
          <p:cNvSpPr/>
          <p:nvPr/>
        </p:nvSpPr>
        <p:spPr>
          <a:xfrm>
            <a:off x="6949542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2" name="Shape 60"/>
          <p:cNvSpPr/>
          <p:nvPr/>
        </p:nvSpPr>
        <p:spPr>
          <a:xfrm>
            <a:off x="7408926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3" name="Shape 61"/>
          <p:cNvSpPr/>
          <p:nvPr/>
        </p:nvSpPr>
        <p:spPr>
          <a:xfrm>
            <a:off x="7868310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4" name="Shape 62"/>
          <p:cNvSpPr/>
          <p:nvPr/>
        </p:nvSpPr>
        <p:spPr>
          <a:xfrm>
            <a:off x="8327695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5" name="Shape 63"/>
          <p:cNvSpPr/>
          <p:nvPr/>
        </p:nvSpPr>
        <p:spPr>
          <a:xfrm>
            <a:off x="8787079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6" name="Shape 64"/>
          <p:cNvSpPr/>
          <p:nvPr/>
        </p:nvSpPr>
        <p:spPr>
          <a:xfrm>
            <a:off x="9246464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7" name="Shape 65"/>
          <p:cNvSpPr/>
          <p:nvPr/>
        </p:nvSpPr>
        <p:spPr>
          <a:xfrm>
            <a:off x="9705848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8" name="Shape 66"/>
          <p:cNvSpPr/>
          <p:nvPr/>
        </p:nvSpPr>
        <p:spPr>
          <a:xfrm>
            <a:off x="10165232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24617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84001" y="269633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1" name="Text 69"/>
          <p:cNvSpPr/>
          <p:nvPr/>
        </p:nvSpPr>
        <p:spPr>
          <a:xfrm>
            <a:off x="11569903" y="2668905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 S2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8368" y="2906078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Inventario y perfilado de fuentes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74466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4" name="Shape 72"/>
          <p:cNvSpPr/>
          <p:nvPr/>
        </p:nvSpPr>
        <p:spPr>
          <a:xfrm>
            <a:off x="3733851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5" name="Shape 73"/>
          <p:cNvSpPr/>
          <p:nvPr/>
        </p:nvSpPr>
        <p:spPr>
          <a:xfrm>
            <a:off x="4193235" y="2933510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4652620" y="2933510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5112004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8" name="Shape 76"/>
          <p:cNvSpPr/>
          <p:nvPr/>
        </p:nvSpPr>
        <p:spPr>
          <a:xfrm>
            <a:off x="5571388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9" name="Shape 77"/>
          <p:cNvSpPr/>
          <p:nvPr/>
        </p:nvSpPr>
        <p:spPr>
          <a:xfrm>
            <a:off x="6030773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0" name="Shape 78"/>
          <p:cNvSpPr/>
          <p:nvPr/>
        </p:nvSpPr>
        <p:spPr>
          <a:xfrm>
            <a:off x="6490157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1" name="Shape 79"/>
          <p:cNvSpPr/>
          <p:nvPr/>
        </p:nvSpPr>
        <p:spPr>
          <a:xfrm>
            <a:off x="6949542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2" name="Shape 80"/>
          <p:cNvSpPr/>
          <p:nvPr/>
        </p:nvSpPr>
        <p:spPr>
          <a:xfrm>
            <a:off x="7408926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3" name="Shape 81"/>
          <p:cNvSpPr/>
          <p:nvPr/>
        </p:nvSpPr>
        <p:spPr>
          <a:xfrm>
            <a:off x="7868310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4" name="Shape 82"/>
          <p:cNvSpPr/>
          <p:nvPr/>
        </p:nvSpPr>
        <p:spPr>
          <a:xfrm>
            <a:off x="8327695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5" name="Shape 83"/>
          <p:cNvSpPr/>
          <p:nvPr/>
        </p:nvSpPr>
        <p:spPr>
          <a:xfrm>
            <a:off x="8787079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6" name="Shape 84"/>
          <p:cNvSpPr/>
          <p:nvPr/>
        </p:nvSpPr>
        <p:spPr>
          <a:xfrm>
            <a:off x="9246464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7" name="Shape 85"/>
          <p:cNvSpPr/>
          <p:nvPr/>
        </p:nvSpPr>
        <p:spPr>
          <a:xfrm>
            <a:off x="9705848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8" name="Shape 86"/>
          <p:cNvSpPr/>
          <p:nvPr/>
        </p:nvSpPr>
        <p:spPr>
          <a:xfrm>
            <a:off x="10165232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89" name="Shape 87"/>
          <p:cNvSpPr/>
          <p:nvPr/>
        </p:nvSpPr>
        <p:spPr>
          <a:xfrm>
            <a:off x="10624617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90" name="Shape 88"/>
          <p:cNvSpPr/>
          <p:nvPr/>
        </p:nvSpPr>
        <p:spPr>
          <a:xfrm>
            <a:off x="11084001" y="293351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91" name="Text 89"/>
          <p:cNvSpPr/>
          <p:nvPr/>
        </p:nvSpPr>
        <p:spPr>
          <a:xfrm>
            <a:off x="11569903" y="2906078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 S4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58368" y="3143250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Ficha del caso y entrega Fase 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274466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94" name="Shape 92"/>
          <p:cNvSpPr/>
          <p:nvPr/>
        </p:nvSpPr>
        <p:spPr>
          <a:xfrm>
            <a:off x="3733851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95" name="Shape 93"/>
          <p:cNvSpPr/>
          <p:nvPr/>
        </p:nvSpPr>
        <p:spPr>
          <a:xfrm>
            <a:off x="4193235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96" name="Shape 94"/>
          <p:cNvSpPr/>
          <p:nvPr/>
        </p:nvSpPr>
        <p:spPr>
          <a:xfrm>
            <a:off x="4652620" y="317068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7" name="Shape 95"/>
          <p:cNvSpPr/>
          <p:nvPr/>
        </p:nvSpPr>
        <p:spPr>
          <a:xfrm>
            <a:off x="5112004" y="317068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8" name="Shape 96"/>
          <p:cNvSpPr/>
          <p:nvPr/>
        </p:nvSpPr>
        <p:spPr>
          <a:xfrm>
            <a:off x="5571388" y="3170682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9" name="Shape 97"/>
          <p:cNvSpPr/>
          <p:nvPr/>
        </p:nvSpPr>
        <p:spPr>
          <a:xfrm>
            <a:off x="6030773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0" name="Shape 98"/>
          <p:cNvSpPr/>
          <p:nvPr/>
        </p:nvSpPr>
        <p:spPr>
          <a:xfrm>
            <a:off x="6490157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1" name="Shape 99"/>
          <p:cNvSpPr/>
          <p:nvPr/>
        </p:nvSpPr>
        <p:spPr>
          <a:xfrm>
            <a:off x="6949542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408926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868310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327695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787079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46464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705848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165232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624617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84001" y="317068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1" name="Text 109"/>
          <p:cNvSpPr/>
          <p:nvPr/>
        </p:nvSpPr>
        <p:spPr>
          <a:xfrm>
            <a:off x="11569903" y="3143250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 S6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658368" y="3380423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 Integración y seudonimización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274466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733851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193235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652620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112004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571388" y="3407854"/>
            <a:ext cx="439268" cy="150305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030773" y="3407854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490157" y="3407854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949542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408926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868310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327695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787079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246464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705848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165232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624617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084001" y="3407854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1" name="Text 129"/>
          <p:cNvSpPr/>
          <p:nvPr/>
        </p:nvSpPr>
        <p:spPr>
          <a:xfrm>
            <a:off x="11569903" y="3380423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a S8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658368" y="3617595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A6. Validación del cálculo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3274466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4" name="Shape 132"/>
          <p:cNvSpPr/>
          <p:nvPr/>
        </p:nvSpPr>
        <p:spPr>
          <a:xfrm>
            <a:off x="3733851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193235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652620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112004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571388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030773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490157" y="3645027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949542" y="3645027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408926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868310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327695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787079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246464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705848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165232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624617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1084001" y="364502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1" name="Text 149"/>
          <p:cNvSpPr/>
          <p:nvPr/>
        </p:nvSpPr>
        <p:spPr>
          <a:xfrm>
            <a:off x="11569903" y="3617595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a S9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658368" y="3854768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A7. Tablero descriptivo de la cartera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3274466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733851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193235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652620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112004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8" name="Shape 156"/>
          <p:cNvSpPr/>
          <p:nvPr/>
        </p:nvSpPr>
        <p:spPr>
          <a:xfrm>
            <a:off x="5571388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030773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0" name="Shape 158"/>
          <p:cNvSpPr/>
          <p:nvPr/>
        </p:nvSpPr>
        <p:spPr>
          <a:xfrm>
            <a:off x="6490157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949542" y="3882200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62" name="Shape 160"/>
          <p:cNvSpPr/>
          <p:nvPr/>
        </p:nvSpPr>
        <p:spPr>
          <a:xfrm>
            <a:off x="7408926" y="3882200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868310" y="3882200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27695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787079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246464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705848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165232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624617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1084001" y="388220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1" name="Text 169"/>
          <p:cNvSpPr/>
          <p:nvPr/>
        </p:nvSpPr>
        <p:spPr>
          <a:xfrm>
            <a:off x="11569903" y="3854768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a S11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658368" y="4091940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A8. Análisis exploratorio y sesgos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3274466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4" name="Shape 172"/>
          <p:cNvSpPr/>
          <p:nvPr/>
        </p:nvSpPr>
        <p:spPr>
          <a:xfrm>
            <a:off x="3733851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193235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6" name="Shape 174"/>
          <p:cNvSpPr/>
          <p:nvPr/>
        </p:nvSpPr>
        <p:spPr>
          <a:xfrm>
            <a:off x="4652620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7" name="Shape 175"/>
          <p:cNvSpPr/>
          <p:nvPr/>
        </p:nvSpPr>
        <p:spPr>
          <a:xfrm>
            <a:off x="5112004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8" name="Shape 176"/>
          <p:cNvSpPr/>
          <p:nvPr/>
        </p:nvSpPr>
        <p:spPr>
          <a:xfrm>
            <a:off x="5571388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030773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0" name="Shape 178"/>
          <p:cNvSpPr/>
          <p:nvPr/>
        </p:nvSpPr>
        <p:spPr>
          <a:xfrm>
            <a:off x="6490157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1" name="Shape 179"/>
          <p:cNvSpPr/>
          <p:nvPr/>
        </p:nvSpPr>
        <p:spPr>
          <a:xfrm>
            <a:off x="6949542" y="411937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408926" y="4119372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868310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327695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787079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246464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705848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0165232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624617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1084001" y="411937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1" name="Text 189"/>
          <p:cNvSpPr/>
          <p:nvPr/>
        </p:nvSpPr>
        <p:spPr>
          <a:xfrm>
            <a:off x="11569903" y="4091940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a S10</a:t>
            </a:r>
            <a:endParaRPr lang="en-US" sz="800" dirty="0"/>
          </a:p>
        </p:txBody>
      </p:sp>
      <p:sp>
        <p:nvSpPr>
          <p:cNvPr id="192" name="Text 190"/>
          <p:cNvSpPr/>
          <p:nvPr/>
        </p:nvSpPr>
        <p:spPr>
          <a:xfrm>
            <a:off x="658368" y="4329113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A9. Variables al momento de corte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3274466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4" name="Shape 192"/>
          <p:cNvSpPr/>
          <p:nvPr/>
        </p:nvSpPr>
        <p:spPr>
          <a:xfrm>
            <a:off x="3733851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5" name="Shape 193"/>
          <p:cNvSpPr/>
          <p:nvPr/>
        </p:nvSpPr>
        <p:spPr>
          <a:xfrm>
            <a:off x="4193235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6" name="Shape 194"/>
          <p:cNvSpPr/>
          <p:nvPr/>
        </p:nvSpPr>
        <p:spPr>
          <a:xfrm>
            <a:off x="4652620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112004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571388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9" name="Shape 197"/>
          <p:cNvSpPr/>
          <p:nvPr/>
        </p:nvSpPr>
        <p:spPr>
          <a:xfrm>
            <a:off x="6030773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0" name="Shape 198"/>
          <p:cNvSpPr/>
          <p:nvPr/>
        </p:nvSpPr>
        <p:spPr>
          <a:xfrm>
            <a:off x="6490157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949542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2" name="Shape 200"/>
          <p:cNvSpPr/>
          <p:nvPr/>
        </p:nvSpPr>
        <p:spPr>
          <a:xfrm>
            <a:off x="7408926" y="4356545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03" name="Shape 201"/>
          <p:cNvSpPr/>
          <p:nvPr/>
        </p:nvSpPr>
        <p:spPr>
          <a:xfrm>
            <a:off x="7868310" y="4356545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04" name="Shape 202"/>
          <p:cNvSpPr/>
          <p:nvPr/>
        </p:nvSpPr>
        <p:spPr>
          <a:xfrm>
            <a:off x="8327695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787079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246464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705848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0165232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624617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0" name="Shape 208"/>
          <p:cNvSpPr/>
          <p:nvPr/>
        </p:nvSpPr>
        <p:spPr>
          <a:xfrm>
            <a:off x="11084001" y="435654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1" name="Text 209"/>
          <p:cNvSpPr/>
          <p:nvPr/>
        </p:nvSpPr>
        <p:spPr>
          <a:xfrm>
            <a:off x="11569903" y="4329113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a S11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658368" y="4566285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A10. Línea base y modelos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3274466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4" name="Shape 212"/>
          <p:cNvSpPr/>
          <p:nvPr/>
        </p:nvSpPr>
        <p:spPr>
          <a:xfrm>
            <a:off x="3733851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5" name="Shape 213"/>
          <p:cNvSpPr/>
          <p:nvPr/>
        </p:nvSpPr>
        <p:spPr>
          <a:xfrm>
            <a:off x="4193235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6" name="Shape 214"/>
          <p:cNvSpPr/>
          <p:nvPr/>
        </p:nvSpPr>
        <p:spPr>
          <a:xfrm>
            <a:off x="4652620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7" name="Shape 215"/>
          <p:cNvSpPr/>
          <p:nvPr/>
        </p:nvSpPr>
        <p:spPr>
          <a:xfrm>
            <a:off x="5112004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8" name="Shape 216"/>
          <p:cNvSpPr/>
          <p:nvPr/>
        </p:nvSpPr>
        <p:spPr>
          <a:xfrm>
            <a:off x="5571388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19" name="Shape 217"/>
          <p:cNvSpPr/>
          <p:nvPr/>
        </p:nvSpPr>
        <p:spPr>
          <a:xfrm>
            <a:off x="6030773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490157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1" name="Shape 219"/>
          <p:cNvSpPr/>
          <p:nvPr/>
        </p:nvSpPr>
        <p:spPr>
          <a:xfrm>
            <a:off x="6949542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2" name="Shape 220"/>
          <p:cNvSpPr/>
          <p:nvPr/>
        </p:nvSpPr>
        <p:spPr>
          <a:xfrm>
            <a:off x="7408926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868310" y="4593717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24" name="Shape 222"/>
          <p:cNvSpPr/>
          <p:nvPr/>
        </p:nvSpPr>
        <p:spPr>
          <a:xfrm>
            <a:off x="8327695" y="4593717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787079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6" name="Shape 224"/>
          <p:cNvSpPr/>
          <p:nvPr/>
        </p:nvSpPr>
        <p:spPr>
          <a:xfrm>
            <a:off x="9246464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705848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0165232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0624617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1084001" y="459371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1" name="Text 229"/>
          <p:cNvSpPr/>
          <p:nvPr/>
        </p:nvSpPr>
        <p:spPr>
          <a:xfrm>
            <a:off x="11569903" y="4566285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a S12</a:t>
            </a:r>
            <a:endParaRPr lang="en-US" sz="800" dirty="0"/>
          </a:p>
        </p:txBody>
      </p:sp>
      <p:sp>
        <p:nvSpPr>
          <p:cNvPr id="232" name="Text 230"/>
          <p:cNvSpPr/>
          <p:nvPr/>
        </p:nvSpPr>
        <p:spPr>
          <a:xfrm>
            <a:off x="658368" y="4803458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A11. Informe de avance</a:t>
            </a:r>
            <a:endParaRPr lang="en-US" sz="1000" dirty="0"/>
          </a:p>
        </p:txBody>
      </p:sp>
      <p:sp>
        <p:nvSpPr>
          <p:cNvPr id="233" name="Shape 231"/>
          <p:cNvSpPr/>
          <p:nvPr/>
        </p:nvSpPr>
        <p:spPr>
          <a:xfrm>
            <a:off x="3274466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4" name="Shape 232"/>
          <p:cNvSpPr/>
          <p:nvPr/>
        </p:nvSpPr>
        <p:spPr>
          <a:xfrm>
            <a:off x="3733851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5" name="Shape 233"/>
          <p:cNvSpPr/>
          <p:nvPr/>
        </p:nvSpPr>
        <p:spPr>
          <a:xfrm>
            <a:off x="4193235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6" name="Shape 234"/>
          <p:cNvSpPr/>
          <p:nvPr/>
        </p:nvSpPr>
        <p:spPr>
          <a:xfrm>
            <a:off x="4652620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7" name="Shape 235"/>
          <p:cNvSpPr/>
          <p:nvPr/>
        </p:nvSpPr>
        <p:spPr>
          <a:xfrm>
            <a:off x="5112004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8" name="Shape 236"/>
          <p:cNvSpPr/>
          <p:nvPr/>
        </p:nvSpPr>
        <p:spPr>
          <a:xfrm>
            <a:off x="5571388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030773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490157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949542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408926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3" name="Shape 241"/>
          <p:cNvSpPr/>
          <p:nvPr/>
        </p:nvSpPr>
        <p:spPr>
          <a:xfrm>
            <a:off x="7868310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327695" y="4830890"/>
            <a:ext cx="439268" cy="150305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787079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6" name="Shape 244"/>
          <p:cNvSpPr/>
          <p:nvPr/>
        </p:nvSpPr>
        <p:spPr>
          <a:xfrm>
            <a:off x="9246464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7" name="Shape 245"/>
          <p:cNvSpPr/>
          <p:nvPr/>
        </p:nvSpPr>
        <p:spPr>
          <a:xfrm>
            <a:off x="9705848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0165232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0624617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1084001" y="483089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1" name="Text 249"/>
          <p:cNvSpPr/>
          <p:nvPr/>
        </p:nvSpPr>
        <p:spPr>
          <a:xfrm>
            <a:off x="11569903" y="4803458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00" dirty="0"/>
          </a:p>
        </p:txBody>
      </p:sp>
      <p:sp>
        <p:nvSpPr>
          <p:cNvPr id="252" name="Text 250"/>
          <p:cNvSpPr/>
          <p:nvPr/>
        </p:nvSpPr>
        <p:spPr>
          <a:xfrm>
            <a:off x="658368" y="5040630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A12. Evaluación out-of-time y bitácora</a:t>
            </a:r>
            <a:endParaRPr lang="en-US" sz="1000" dirty="0"/>
          </a:p>
        </p:txBody>
      </p:sp>
      <p:sp>
        <p:nvSpPr>
          <p:cNvPr id="253" name="Shape 251"/>
          <p:cNvSpPr/>
          <p:nvPr/>
        </p:nvSpPr>
        <p:spPr>
          <a:xfrm>
            <a:off x="3274466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4" name="Shape 252"/>
          <p:cNvSpPr/>
          <p:nvPr/>
        </p:nvSpPr>
        <p:spPr>
          <a:xfrm>
            <a:off x="3733851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5" name="Shape 253"/>
          <p:cNvSpPr/>
          <p:nvPr/>
        </p:nvSpPr>
        <p:spPr>
          <a:xfrm>
            <a:off x="4193235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6" name="Shape 254"/>
          <p:cNvSpPr/>
          <p:nvPr/>
        </p:nvSpPr>
        <p:spPr>
          <a:xfrm>
            <a:off x="4652620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7" name="Shape 255"/>
          <p:cNvSpPr/>
          <p:nvPr/>
        </p:nvSpPr>
        <p:spPr>
          <a:xfrm>
            <a:off x="5112004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8" name="Shape 256"/>
          <p:cNvSpPr/>
          <p:nvPr/>
        </p:nvSpPr>
        <p:spPr>
          <a:xfrm>
            <a:off x="5571388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9" name="Shape 257"/>
          <p:cNvSpPr/>
          <p:nvPr/>
        </p:nvSpPr>
        <p:spPr>
          <a:xfrm>
            <a:off x="6030773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0" name="Shape 258"/>
          <p:cNvSpPr/>
          <p:nvPr/>
        </p:nvSpPr>
        <p:spPr>
          <a:xfrm>
            <a:off x="6490157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949542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408926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3" name="Shape 261"/>
          <p:cNvSpPr/>
          <p:nvPr/>
        </p:nvSpPr>
        <p:spPr>
          <a:xfrm>
            <a:off x="7868310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4" name="Shape 262"/>
          <p:cNvSpPr/>
          <p:nvPr/>
        </p:nvSpPr>
        <p:spPr>
          <a:xfrm>
            <a:off x="8327695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787079" y="506806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66" name="Shape 264"/>
          <p:cNvSpPr/>
          <p:nvPr/>
        </p:nvSpPr>
        <p:spPr>
          <a:xfrm>
            <a:off x="9246464" y="5068062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705848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0165232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624617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0" name="Shape 268"/>
          <p:cNvSpPr/>
          <p:nvPr/>
        </p:nvSpPr>
        <p:spPr>
          <a:xfrm>
            <a:off x="11084001" y="5068062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1" name="Text 269"/>
          <p:cNvSpPr/>
          <p:nvPr/>
        </p:nvSpPr>
        <p:spPr>
          <a:xfrm>
            <a:off x="11569903" y="5040630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a S14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658368" y="5277803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A13. Tablero de decisión</a:t>
            </a:r>
            <a:endParaRPr lang="en-US" sz="1000" dirty="0"/>
          </a:p>
        </p:txBody>
      </p:sp>
      <p:sp>
        <p:nvSpPr>
          <p:cNvPr id="273" name="Shape 271"/>
          <p:cNvSpPr/>
          <p:nvPr/>
        </p:nvSpPr>
        <p:spPr>
          <a:xfrm>
            <a:off x="3274466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4" name="Shape 272"/>
          <p:cNvSpPr/>
          <p:nvPr/>
        </p:nvSpPr>
        <p:spPr>
          <a:xfrm>
            <a:off x="3733851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5" name="Shape 273"/>
          <p:cNvSpPr/>
          <p:nvPr/>
        </p:nvSpPr>
        <p:spPr>
          <a:xfrm>
            <a:off x="4193235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6" name="Shape 274"/>
          <p:cNvSpPr/>
          <p:nvPr/>
        </p:nvSpPr>
        <p:spPr>
          <a:xfrm>
            <a:off x="4652620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7" name="Shape 275"/>
          <p:cNvSpPr/>
          <p:nvPr/>
        </p:nvSpPr>
        <p:spPr>
          <a:xfrm>
            <a:off x="5112004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8" name="Shape 276"/>
          <p:cNvSpPr/>
          <p:nvPr/>
        </p:nvSpPr>
        <p:spPr>
          <a:xfrm>
            <a:off x="5571388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9" name="Shape 277"/>
          <p:cNvSpPr/>
          <p:nvPr/>
        </p:nvSpPr>
        <p:spPr>
          <a:xfrm>
            <a:off x="6030773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0" name="Shape 278"/>
          <p:cNvSpPr/>
          <p:nvPr/>
        </p:nvSpPr>
        <p:spPr>
          <a:xfrm>
            <a:off x="6490157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1" name="Shape 279"/>
          <p:cNvSpPr/>
          <p:nvPr/>
        </p:nvSpPr>
        <p:spPr>
          <a:xfrm>
            <a:off x="6949542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408926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868310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4" name="Shape 282"/>
          <p:cNvSpPr/>
          <p:nvPr/>
        </p:nvSpPr>
        <p:spPr>
          <a:xfrm>
            <a:off x="8327695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5" name="Shape 283"/>
          <p:cNvSpPr/>
          <p:nvPr/>
        </p:nvSpPr>
        <p:spPr>
          <a:xfrm>
            <a:off x="8787079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86" name="Shape 284"/>
          <p:cNvSpPr/>
          <p:nvPr/>
        </p:nvSpPr>
        <p:spPr>
          <a:xfrm>
            <a:off x="9246464" y="5305235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87" name="Shape 285"/>
          <p:cNvSpPr/>
          <p:nvPr/>
        </p:nvSpPr>
        <p:spPr>
          <a:xfrm>
            <a:off x="9705848" y="5305235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165232" y="5305235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89" name="Shape 287"/>
          <p:cNvSpPr/>
          <p:nvPr/>
        </p:nvSpPr>
        <p:spPr>
          <a:xfrm>
            <a:off x="10624617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0" name="Shape 288"/>
          <p:cNvSpPr/>
          <p:nvPr/>
        </p:nvSpPr>
        <p:spPr>
          <a:xfrm>
            <a:off x="11084001" y="5305235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1" name="Text 289"/>
          <p:cNvSpPr/>
          <p:nvPr/>
        </p:nvSpPr>
        <p:spPr>
          <a:xfrm>
            <a:off x="11569903" y="5277803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a S16</a:t>
            </a:r>
            <a:endParaRPr lang="en-US" sz="800" dirty="0"/>
          </a:p>
        </p:txBody>
      </p:sp>
      <p:sp>
        <p:nvSpPr>
          <p:cNvPr id="292" name="Text 290"/>
          <p:cNvSpPr/>
          <p:nvPr/>
        </p:nvSpPr>
        <p:spPr>
          <a:xfrm>
            <a:off x="658368" y="5514975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A14. Validación con usuario</a:t>
            </a:r>
            <a:endParaRPr lang="en-US" sz="1000" dirty="0"/>
          </a:p>
        </p:txBody>
      </p:sp>
      <p:sp>
        <p:nvSpPr>
          <p:cNvPr id="293" name="Shape 291"/>
          <p:cNvSpPr/>
          <p:nvPr/>
        </p:nvSpPr>
        <p:spPr>
          <a:xfrm>
            <a:off x="3274466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4" name="Shape 292"/>
          <p:cNvSpPr/>
          <p:nvPr/>
        </p:nvSpPr>
        <p:spPr>
          <a:xfrm>
            <a:off x="3733851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5" name="Shape 293"/>
          <p:cNvSpPr/>
          <p:nvPr/>
        </p:nvSpPr>
        <p:spPr>
          <a:xfrm>
            <a:off x="4193235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6" name="Shape 294"/>
          <p:cNvSpPr/>
          <p:nvPr/>
        </p:nvSpPr>
        <p:spPr>
          <a:xfrm>
            <a:off x="4652620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7" name="Shape 295"/>
          <p:cNvSpPr/>
          <p:nvPr/>
        </p:nvSpPr>
        <p:spPr>
          <a:xfrm>
            <a:off x="5112004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8" name="Shape 296"/>
          <p:cNvSpPr/>
          <p:nvPr/>
        </p:nvSpPr>
        <p:spPr>
          <a:xfrm>
            <a:off x="5571388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9" name="Shape 297"/>
          <p:cNvSpPr/>
          <p:nvPr/>
        </p:nvSpPr>
        <p:spPr>
          <a:xfrm>
            <a:off x="6030773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0" name="Shape 298"/>
          <p:cNvSpPr/>
          <p:nvPr/>
        </p:nvSpPr>
        <p:spPr>
          <a:xfrm>
            <a:off x="6490157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1" name="Shape 299"/>
          <p:cNvSpPr/>
          <p:nvPr/>
        </p:nvSpPr>
        <p:spPr>
          <a:xfrm>
            <a:off x="6949542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2" name="Shape 300"/>
          <p:cNvSpPr/>
          <p:nvPr/>
        </p:nvSpPr>
        <p:spPr>
          <a:xfrm>
            <a:off x="7408926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3" name="Shape 301"/>
          <p:cNvSpPr/>
          <p:nvPr/>
        </p:nvSpPr>
        <p:spPr>
          <a:xfrm>
            <a:off x="7868310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4" name="Shape 302"/>
          <p:cNvSpPr/>
          <p:nvPr/>
        </p:nvSpPr>
        <p:spPr>
          <a:xfrm>
            <a:off x="8327695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5" name="Shape 303"/>
          <p:cNvSpPr/>
          <p:nvPr/>
        </p:nvSpPr>
        <p:spPr>
          <a:xfrm>
            <a:off x="8787079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6" name="Shape 304"/>
          <p:cNvSpPr/>
          <p:nvPr/>
        </p:nvSpPr>
        <p:spPr>
          <a:xfrm>
            <a:off x="9246464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7" name="Shape 305"/>
          <p:cNvSpPr/>
          <p:nvPr/>
        </p:nvSpPr>
        <p:spPr>
          <a:xfrm>
            <a:off x="9705848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8" name="Shape 306"/>
          <p:cNvSpPr/>
          <p:nvPr/>
        </p:nvSpPr>
        <p:spPr>
          <a:xfrm>
            <a:off x="10165232" y="5542407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09" name="Shape 307"/>
          <p:cNvSpPr/>
          <p:nvPr/>
        </p:nvSpPr>
        <p:spPr>
          <a:xfrm>
            <a:off x="10624617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0" name="Shape 308"/>
          <p:cNvSpPr/>
          <p:nvPr/>
        </p:nvSpPr>
        <p:spPr>
          <a:xfrm>
            <a:off x="11084001" y="5542407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1" name="Text 309"/>
          <p:cNvSpPr/>
          <p:nvPr/>
        </p:nvSpPr>
        <p:spPr>
          <a:xfrm>
            <a:off x="11569903" y="5514975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800" dirty="0"/>
          </a:p>
        </p:txBody>
      </p:sp>
      <p:sp>
        <p:nvSpPr>
          <p:cNvPr id="312" name="Text 310"/>
          <p:cNvSpPr/>
          <p:nvPr/>
        </p:nvSpPr>
        <p:spPr>
          <a:xfrm>
            <a:off x="658368" y="5752148"/>
            <a:ext cx="2496312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A15. Informe final y defensa</a:t>
            </a:r>
            <a:endParaRPr lang="en-US" sz="1000" dirty="0"/>
          </a:p>
        </p:txBody>
      </p:sp>
      <p:sp>
        <p:nvSpPr>
          <p:cNvPr id="313" name="Shape 311"/>
          <p:cNvSpPr/>
          <p:nvPr/>
        </p:nvSpPr>
        <p:spPr>
          <a:xfrm>
            <a:off x="3274466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4" name="Shape 312"/>
          <p:cNvSpPr/>
          <p:nvPr/>
        </p:nvSpPr>
        <p:spPr>
          <a:xfrm>
            <a:off x="3733851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5" name="Shape 313"/>
          <p:cNvSpPr/>
          <p:nvPr/>
        </p:nvSpPr>
        <p:spPr>
          <a:xfrm>
            <a:off x="4193235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6" name="Shape 314"/>
          <p:cNvSpPr/>
          <p:nvPr/>
        </p:nvSpPr>
        <p:spPr>
          <a:xfrm>
            <a:off x="4652620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7" name="Shape 315"/>
          <p:cNvSpPr/>
          <p:nvPr/>
        </p:nvSpPr>
        <p:spPr>
          <a:xfrm>
            <a:off x="5112004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8" name="Shape 316"/>
          <p:cNvSpPr/>
          <p:nvPr/>
        </p:nvSpPr>
        <p:spPr>
          <a:xfrm>
            <a:off x="5571388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9" name="Shape 317"/>
          <p:cNvSpPr/>
          <p:nvPr/>
        </p:nvSpPr>
        <p:spPr>
          <a:xfrm>
            <a:off x="6030773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0" name="Shape 318"/>
          <p:cNvSpPr/>
          <p:nvPr/>
        </p:nvSpPr>
        <p:spPr>
          <a:xfrm>
            <a:off x="6490157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1" name="Shape 319"/>
          <p:cNvSpPr/>
          <p:nvPr/>
        </p:nvSpPr>
        <p:spPr>
          <a:xfrm>
            <a:off x="6949542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2" name="Shape 320"/>
          <p:cNvSpPr/>
          <p:nvPr/>
        </p:nvSpPr>
        <p:spPr>
          <a:xfrm>
            <a:off x="7408926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3" name="Shape 321"/>
          <p:cNvSpPr/>
          <p:nvPr/>
        </p:nvSpPr>
        <p:spPr>
          <a:xfrm>
            <a:off x="7868310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4" name="Shape 322"/>
          <p:cNvSpPr/>
          <p:nvPr/>
        </p:nvSpPr>
        <p:spPr>
          <a:xfrm>
            <a:off x="8327695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5" name="Shape 323"/>
          <p:cNvSpPr/>
          <p:nvPr/>
        </p:nvSpPr>
        <p:spPr>
          <a:xfrm>
            <a:off x="8787079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246464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705848" y="5779580"/>
            <a:ext cx="439268" cy="150305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8" name="Shape 326"/>
          <p:cNvSpPr/>
          <p:nvPr/>
        </p:nvSpPr>
        <p:spPr>
          <a:xfrm>
            <a:off x="10165232" y="5779580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624617" y="5779580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1084001" y="5779580"/>
            <a:ext cx="439268" cy="150305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31" name="Text 329"/>
          <p:cNvSpPr/>
          <p:nvPr/>
        </p:nvSpPr>
        <p:spPr>
          <a:xfrm>
            <a:off x="11569903" y="5752148"/>
            <a:ext cx="640080" cy="20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a S18</a:t>
            </a:r>
            <a:endParaRPr lang="en-US" sz="800" dirty="0"/>
          </a:p>
        </p:txBody>
      </p:sp>
      <p:sp>
        <p:nvSpPr>
          <p:cNvPr id="332" name="Text 330"/>
          <p:cNvSpPr/>
          <p:nvPr/>
        </p:nvSpPr>
        <p:spPr>
          <a:xfrm>
            <a:off x="3264408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50" dirty="0"/>
          </a:p>
        </p:txBody>
      </p:sp>
      <p:sp>
        <p:nvSpPr>
          <p:cNvPr id="333" name="Text 331"/>
          <p:cNvSpPr/>
          <p:nvPr/>
        </p:nvSpPr>
        <p:spPr>
          <a:xfrm>
            <a:off x="3723792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50" dirty="0"/>
          </a:p>
        </p:txBody>
      </p:sp>
      <p:sp>
        <p:nvSpPr>
          <p:cNvPr id="334" name="Text 332"/>
          <p:cNvSpPr/>
          <p:nvPr/>
        </p:nvSpPr>
        <p:spPr>
          <a:xfrm>
            <a:off x="4183177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50" dirty="0"/>
          </a:p>
        </p:txBody>
      </p:sp>
      <p:sp>
        <p:nvSpPr>
          <p:cNvPr id="335" name="Text 333"/>
          <p:cNvSpPr/>
          <p:nvPr/>
        </p:nvSpPr>
        <p:spPr>
          <a:xfrm>
            <a:off x="4642561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50" dirty="0"/>
          </a:p>
        </p:txBody>
      </p:sp>
      <p:sp>
        <p:nvSpPr>
          <p:cNvPr id="336" name="Text 334"/>
          <p:cNvSpPr/>
          <p:nvPr/>
        </p:nvSpPr>
        <p:spPr>
          <a:xfrm>
            <a:off x="5101946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50" dirty="0"/>
          </a:p>
        </p:txBody>
      </p:sp>
      <p:sp>
        <p:nvSpPr>
          <p:cNvPr id="337" name="Text 335"/>
          <p:cNvSpPr/>
          <p:nvPr/>
        </p:nvSpPr>
        <p:spPr>
          <a:xfrm>
            <a:off x="5561330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50" dirty="0"/>
          </a:p>
        </p:txBody>
      </p:sp>
      <p:sp>
        <p:nvSpPr>
          <p:cNvPr id="338" name="Text 336"/>
          <p:cNvSpPr/>
          <p:nvPr/>
        </p:nvSpPr>
        <p:spPr>
          <a:xfrm>
            <a:off x="6020714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750" dirty="0"/>
          </a:p>
        </p:txBody>
      </p:sp>
      <p:sp>
        <p:nvSpPr>
          <p:cNvPr id="339" name="Text 337"/>
          <p:cNvSpPr/>
          <p:nvPr/>
        </p:nvSpPr>
        <p:spPr>
          <a:xfrm>
            <a:off x="6480099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750" dirty="0"/>
          </a:p>
        </p:txBody>
      </p:sp>
      <p:sp>
        <p:nvSpPr>
          <p:cNvPr id="340" name="Text 338"/>
          <p:cNvSpPr/>
          <p:nvPr/>
        </p:nvSpPr>
        <p:spPr>
          <a:xfrm>
            <a:off x="6939483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750" dirty="0"/>
          </a:p>
        </p:txBody>
      </p:sp>
      <p:sp>
        <p:nvSpPr>
          <p:cNvPr id="341" name="Text 339"/>
          <p:cNvSpPr/>
          <p:nvPr/>
        </p:nvSpPr>
        <p:spPr>
          <a:xfrm>
            <a:off x="7398868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750" dirty="0"/>
          </a:p>
        </p:txBody>
      </p:sp>
      <p:sp>
        <p:nvSpPr>
          <p:cNvPr id="342" name="Text 340"/>
          <p:cNvSpPr/>
          <p:nvPr/>
        </p:nvSpPr>
        <p:spPr>
          <a:xfrm>
            <a:off x="7858252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750" dirty="0"/>
          </a:p>
        </p:txBody>
      </p:sp>
      <p:sp>
        <p:nvSpPr>
          <p:cNvPr id="343" name="Text 341"/>
          <p:cNvSpPr/>
          <p:nvPr/>
        </p:nvSpPr>
        <p:spPr>
          <a:xfrm>
            <a:off x="8317636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750" dirty="0"/>
          </a:p>
        </p:txBody>
      </p:sp>
      <p:sp>
        <p:nvSpPr>
          <p:cNvPr id="344" name="Text 342"/>
          <p:cNvSpPr/>
          <p:nvPr/>
        </p:nvSpPr>
        <p:spPr>
          <a:xfrm>
            <a:off x="8777021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750" dirty="0"/>
          </a:p>
        </p:txBody>
      </p:sp>
      <p:sp>
        <p:nvSpPr>
          <p:cNvPr id="345" name="Text 343"/>
          <p:cNvSpPr/>
          <p:nvPr/>
        </p:nvSpPr>
        <p:spPr>
          <a:xfrm>
            <a:off x="9236405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750" dirty="0"/>
          </a:p>
        </p:txBody>
      </p:sp>
      <p:sp>
        <p:nvSpPr>
          <p:cNvPr id="346" name="Text 344"/>
          <p:cNvSpPr/>
          <p:nvPr/>
        </p:nvSpPr>
        <p:spPr>
          <a:xfrm>
            <a:off x="9695790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750" dirty="0"/>
          </a:p>
        </p:txBody>
      </p:sp>
      <p:sp>
        <p:nvSpPr>
          <p:cNvPr id="347" name="Text 345"/>
          <p:cNvSpPr/>
          <p:nvPr/>
        </p:nvSpPr>
        <p:spPr>
          <a:xfrm>
            <a:off x="10155174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750" dirty="0"/>
          </a:p>
        </p:txBody>
      </p:sp>
      <p:sp>
        <p:nvSpPr>
          <p:cNvPr id="348" name="Text 346"/>
          <p:cNvSpPr/>
          <p:nvPr/>
        </p:nvSpPr>
        <p:spPr>
          <a:xfrm>
            <a:off x="10614558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750" dirty="0"/>
          </a:p>
        </p:txBody>
      </p:sp>
      <p:sp>
        <p:nvSpPr>
          <p:cNvPr id="349" name="Text 347"/>
          <p:cNvSpPr/>
          <p:nvPr/>
        </p:nvSpPr>
        <p:spPr>
          <a:xfrm>
            <a:off x="11073943" y="6016752"/>
            <a:ext cx="45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750" dirty="0"/>
          </a:p>
        </p:txBody>
      </p:sp>
      <p:sp>
        <p:nvSpPr>
          <p:cNvPr id="350" name="Shape 348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352" name="Text 350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BC842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58368" y="27889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esperadas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422452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productos, cada uno asociado a un objetivo específico.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5831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Esperadas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32927" y="530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40" kern="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Evidencias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24128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25296"/>
            <a:ext cx="108749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productos acordados con el docente: seis durante el desarrollo y cuatro en el cierre.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AVANCE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Ficha del indicador y del caso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651760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Fórmula, KPI, variable objetivo, umbral, corte y línea base.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014472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integrado y perfilado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3288792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Primas y siniestros reconciliados, agregados y seudonimizados.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651504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Validación del cálculo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" y="3925824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contra los reportes oficiales, con las diferencias explicadas.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4288536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Tablero descriptivo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" y="4562856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histórica por póliza, cliente, aseguradora y ramo.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925568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Resguardo de datos personales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5199888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Agregación, seudonimización, control de acceso y sesgos.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5562600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Informe de avance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" y="5836920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los objetivos y ajustes de alcance realizados.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70168" y="188366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7274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0168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70168" y="2377440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Evaluación contra la línea base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9624" y="2651760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out-of-time y comisión en riesgo anticipada.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70168" y="3014472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Tablero de decisión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9624" y="3288792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priorizadas, factores explicativos y comisión en riesgo.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0168" y="3651504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Validación con usuario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9624" y="3925824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guiada con el equipo de seguros y ajustes implementados.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0168" y="4288536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Informe final y defensa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9624" y="4562856"/>
            <a:ext cx="494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Conclusiones, limitaciones y diseño de la medición de impacto.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6400800"/>
            <a:ext cx="10874959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455664"/>
            <a:ext cx="99605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 Learning   |   Fase 1: Definición del Proyecto APT   |   Grupo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" y="6455664"/>
            <a:ext cx="108749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0"/>
            <a:ext cx="1087495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733288" y="3703320"/>
            <a:ext cx="713232" cy="50292"/>
          </a:xfrm>
          <a:prstGeom prst="roundRect">
            <a:avLst>
              <a:gd name="adj" fmla="val 54545"/>
            </a:avLst>
          </a:prstGeom>
          <a:solidFill>
            <a:srgbClr val="FBC842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023360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5943600"/>
            <a:ext cx="108749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3. Guillermo Mora, José Montesino, Pablo Pinto. Ingeniería en Informática, Sede Maipú.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Buk Learning - Fase 1 Proyecto APT</dc:title>
  <dc:subject>PptxGenJS Presentation</dc:subject>
  <dc:creator>Grupo 3 - Buk Learning</dc:creator>
  <cp:lastModifiedBy>Grupo 3 - Buk Learning</cp:lastModifiedBy>
  <cp:revision>1</cp:revision>
  <dcterms:created xsi:type="dcterms:W3CDTF">2026-09-02T05:34:51Z</dcterms:created>
  <dcterms:modified xsi:type="dcterms:W3CDTF">2026-09-02T05:34:51Z</dcterms:modified>
</cp:coreProperties>
</file>